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Arial Bold" charset="1" panose="020B0704020202020204"/>
      <p:regular r:id="rId12"/>
    </p:embeddedFont>
    <p:embeddedFont>
      <p:font typeface="Arial" charset="1" panose="020B0604020202020204"/>
      <p:regular r:id="rId13"/>
    </p:embeddedFont>
    <p:embeddedFont>
      <p:font typeface="Poppins Bold" charset="1" panose="00000800000000000000"/>
      <p:regular r:id="rId14"/>
    </p:embeddedFont>
    <p:embeddedFont>
      <p:font typeface="Poppins" charset="1" panose="00000500000000000000"/>
      <p:regular r:id="rId15"/>
    </p:embeddedFont>
    <p:embeddedFont>
      <p:font typeface="Times New Roman" charset="1" panose="02020603050405020304"/>
      <p:regular r:id="rId16"/>
    </p:embeddedFont>
    <p:embeddedFont>
      <p:font typeface="Times New Roman MT" charset="1" panose="02030502070405020303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6" cy="10287002"/>
            <a:chOff x="0" y="0"/>
            <a:chExt cx="24384008" cy="1371600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4817625" y="53325"/>
            <a:ext cx="8652750" cy="1354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40"/>
              </a:lnSpc>
            </a:pPr>
            <a:r>
              <a:rPr lang="en-US" b="true" sz="920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CODE RED 3.0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175875" y="1467300"/>
            <a:ext cx="7590150" cy="424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36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CODE TILL YOU DROP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68525" y="2656325"/>
            <a:ext cx="14681437" cy="2357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87"/>
              </a:lnSpc>
            </a:pPr>
            <a:r>
              <a:rPr lang="en-US" b="true" sz="6960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Secure federated A</a:t>
            </a:r>
            <a:r>
              <a:rPr lang="en-US" b="true" sz="6960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I solution for multi-hospital training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958200" y="6513735"/>
            <a:ext cx="6783984" cy="6564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71"/>
              </a:lnSpc>
            </a:pPr>
            <a:r>
              <a:rPr lang="en-US" sz="3137">
                <a:solidFill>
                  <a:srgbClr val="E5E1DA"/>
                </a:solidFill>
                <a:latin typeface="Poppins"/>
                <a:ea typeface="Poppins"/>
                <a:cs typeface="Poppins"/>
                <a:sym typeface="Poppins"/>
              </a:rPr>
              <a:t>Team Name: MedCrypt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958200" y="7117795"/>
            <a:ext cx="6613864" cy="6564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71"/>
              </a:lnSpc>
            </a:pPr>
            <a:r>
              <a:rPr lang="en-US" sz="3137">
                <a:solidFill>
                  <a:srgbClr val="E5E1DA"/>
                </a:solidFill>
                <a:latin typeface="Poppins"/>
                <a:ea typeface="Poppins"/>
                <a:cs typeface="Poppins"/>
                <a:sym typeface="Poppins"/>
              </a:rPr>
              <a:t>Team Leader Name: Arjun R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958200" y="7721855"/>
            <a:ext cx="15932705" cy="2656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71"/>
              </a:lnSpc>
            </a:pPr>
            <a:r>
              <a:rPr lang="en-US" sz="3138">
                <a:solidFill>
                  <a:srgbClr val="E5E1DA"/>
                </a:solidFill>
                <a:latin typeface="Poppins"/>
                <a:ea typeface="Poppins"/>
                <a:cs typeface="Poppins"/>
                <a:sym typeface="Poppins"/>
              </a:rPr>
              <a:t>Institution Name: AJ Institute of Engineering &amp; Technology Mangalore, Karnataka</a:t>
            </a:r>
          </a:p>
          <a:p>
            <a:pPr algn="l">
              <a:lnSpc>
                <a:spcPts val="5271"/>
              </a:lnSpc>
            </a:pPr>
          </a:p>
          <a:p>
            <a:pPr algn="l">
              <a:lnSpc>
                <a:spcPts val="5271"/>
              </a:lnSpc>
            </a:pPr>
            <a:r>
              <a:rPr lang="en-US" sz="3138">
                <a:solidFill>
                  <a:srgbClr val="E5E1D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  <a:p>
            <a:pPr algn="l">
              <a:lnSpc>
                <a:spcPts val="5271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958200" y="5909675"/>
            <a:ext cx="7768770" cy="6564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71"/>
              </a:lnSpc>
            </a:pPr>
            <a:r>
              <a:rPr lang="en-US" sz="3137">
                <a:solidFill>
                  <a:srgbClr val="E5E1DA"/>
                </a:solidFill>
                <a:latin typeface="Poppins"/>
                <a:ea typeface="Poppins"/>
                <a:cs typeface="Poppins"/>
                <a:sym typeface="Poppins"/>
              </a:rPr>
              <a:t>Problem Statement Code: CR(S)3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6" cy="10287002"/>
            <a:chOff x="0" y="0"/>
            <a:chExt cx="24384008" cy="1371600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443750" y="339050"/>
            <a:ext cx="12438600" cy="976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91"/>
              </a:lnSpc>
            </a:pPr>
            <a:r>
              <a:rPr lang="en-US" b="true" sz="5599">
                <a:solidFill>
                  <a:srgbClr val="FF0000"/>
                </a:solidFill>
                <a:latin typeface="Poppins Bold"/>
                <a:ea typeface="Poppins Bold"/>
                <a:cs typeface="Poppins Bold"/>
                <a:sym typeface="Poppins Bold"/>
              </a:rPr>
              <a:t>IDEA/APPROACH</a:t>
            </a:r>
            <a:r>
              <a:rPr lang="en-US" b="true" sz="5599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 DETAILS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-2475" y="-11875"/>
            <a:ext cx="18307050" cy="1792650"/>
            <a:chOff x="0" y="0"/>
            <a:chExt cx="24409400" cy="23902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2700" y="12700"/>
              <a:ext cx="24384000" cy="2364740"/>
            </a:xfrm>
            <a:custGeom>
              <a:avLst/>
              <a:gdLst/>
              <a:ahLst/>
              <a:cxnLst/>
              <a:rect r="r" b="b" t="t" l="l"/>
              <a:pathLst>
                <a:path h="236474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364740"/>
                  </a:lnTo>
                  <a:lnTo>
                    <a:pt x="0" y="2364740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409400" cy="2390140"/>
            </a:xfrm>
            <a:custGeom>
              <a:avLst/>
              <a:gdLst/>
              <a:ahLst/>
              <a:cxnLst/>
              <a:rect r="r" b="b" t="t" l="l"/>
              <a:pathLst>
                <a:path h="2390140" w="24409400">
                  <a:moveTo>
                    <a:pt x="12700" y="0"/>
                  </a:moveTo>
                  <a:lnTo>
                    <a:pt x="24396700" y="0"/>
                  </a:lnTo>
                  <a:cubicBezTo>
                    <a:pt x="24403686" y="0"/>
                    <a:pt x="24409400" y="5715"/>
                    <a:pt x="24409400" y="12700"/>
                  </a:cubicBezTo>
                  <a:lnTo>
                    <a:pt x="24409400" y="2377440"/>
                  </a:lnTo>
                  <a:cubicBezTo>
                    <a:pt x="24409400" y="2384425"/>
                    <a:pt x="24403686" y="2390140"/>
                    <a:pt x="24396700" y="2390140"/>
                  </a:cubicBezTo>
                  <a:lnTo>
                    <a:pt x="12700" y="2390140"/>
                  </a:lnTo>
                  <a:cubicBezTo>
                    <a:pt x="5715" y="2390140"/>
                    <a:pt x="0" y="2384425"/>
                    <a:pt x="0" y="237744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377440"/>
                  </a:lnTo>
                  <a:lnTo>
                    <a:pt x="12700" y="2377440"/>
                  </a:lnTo>
                  <a:lnTo>
                    <a:pt x="12700" y="2364740"/>
                  </a:lnTo>
                  <a:lnTo>
                    <a:pt x="24396700" y="2364740"/>
                  </a:lnTo>
                  <a:lnTo>
                    <a:pt x="24396700" y="2377440"/>
                  </a:lnTo>
                  <a:lnTo>
                    <a:pt x="24384000" y="2377440"/>
                  </a:lnTo>
                  <a:lnTo>
                    <a:pt x="24384000" y="12700"/>
                  </a:lnTo>
                  <a:lnTo>
                    <a:pt x="24396700" y="12700"/>
                  </a:lnTo>
                  <a:lnTo>
                    <a:pt x="2439670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623400" y="542900"/>
            <a:ext cx="9858600" cy="772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08"/>
              </a:lnSpc>
            </a:pPr>
            <a:r>
              <a:rPr lang="en-US" b="true" sz="4400">
                <a:solidFill>
                  <a:srgbClr val="FF0000"/>
                </a:solidFill>
                <a:latin typeface="Poppins Bold"/>
                <a:ea typeface="Poppins Bold"/>
                <a:cs typeface="Poppins Bold"/>
                <a:sym typeface="Poppins Bold"/>
              </a:rPr>
              <a:t>IDEA/APPROACH</a:t>
            </a:r>
            <a:r>
              <a:rPr lang="en-US" b="true" sz="4400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 DETAILS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78398" y="2013121"/>
            <a:ext cx="16945305" cy="785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698" indent="-323849" lvl="1">
              <a:lnSpc>
                <a:spcPts val="4499"/>
              </a:lnSpc>
              <a:buFont typeface="Arial"/>
              <a:buChar char="•"/>
            </a:pPr>
            <a:r>
              <a:rPr lang="en-US" sz="2999">
                <a:solidFill>
                  <a:srgbClr val="E5E1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IDEA:</a:t>
            </a:r>
          </a:p>
          <a:p>
            <a:pPr algn="just">
              <a:lnSpc>
                <a:spcPts val="4499"/>
              </a:lnSpc>
            </a:pPr>
            <a:r>
              <a:rPr lang="en-US" sz="2999">
                <a:solidFill>
                  <a:srgbClr val="E5E1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-US" sz="2999">
                <a:solidFill>
                  <a:srgbClr val="E5E1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 propose a Federated Learning (FL) framework where each hospital trains a local AI model on-site and only encrypted model updates are shared to a central aggregator. No raw patient data ever leaves hospital servers.</a:t>
            </a:r>
          </a:p>
          <a:p>
            <a:pPr algn="just" marL="647698" indent="-323849" lvl="1">
              <a:lnSpc>
                <a:spcPts val="4499"/>
              </a:lnSpc>
              <a:buFont typeface="Arial"/>
              <a:buChar char="•"/>
            </a:pPr>
            <a:r>
              <a:rPr lang="en-US" sz="2999">
                <a:solidFill>
                  <a:srgbClr val="E5E1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CASES:</a:t>
            </a:r>
          </a:p>
          <a:p>
            <a:pPr algn="just">
              <a:lnSpc>
                <a:spcPts val="4499"/>
              </a:lnSpc>
            </a:pPr>
            <a:r>
              <a:rPr lang="en-US" sz="2999">
                <a:solidFill>
                  <a:srgbClr val="E5E1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Multi-Hospital Disease Detection</a:t>
            </a:r>
          </a:p>
          <a:p>
            <a:pPr algn="just">
              <a:lnSpc>
                <a:spcPts val="4499"/>
              </a:lnSpc>
            </a:pPr>
            <a:r>
              <a:rPr lang="en-US" sz="2999">
                <a:solidFill>
                  <a:srgbClr val="E5E1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Training a unified model for disease detection (e.g., cancer, pneumonia) across multiple hospitals without data sharing.</a:t>
            </a:r>
          </a:p>
          <a:p>
            <a:pPr algn="just">
              <a:lnSpc>
                <a:spcPts val="4499"/>
              </a:lnSpc>
            </a:pPr>
            <a:r>
              <a:rPr lang="en-US" sz="2999">
                <a:solidFill>
                  <a:srgbClr val="E5E1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Treatment Response Prediction</a:t>
            </a:r>
          </a:p>
          <a:p>
            <a:pPr algn="just">
              <a:lnSpc>
                <a:spcPts val="4499"/>
              </a:lnSpc>
            </a:pPr>
            <a:r>
              <a:rPr lang="en-US" sz="2999">
                <a:solidFill>
                  <a:srgbClr val="E5E1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Predicts likely treatment success based on demographic and clinical patterns learned from decentralized datasets.</a:t>
            </a:r>
          </a:p>
          <a:p>
            <a:pPr algn="just">
              <a:lnSpc>
                <a:spcPts val="4499"/>
              </a:lnSpc>
            </a:pPr>
            <a:r>
              <a:rPr lang="en-US" sz="2999">
                <a:solidFill>
                  <a:srgbClr val="E5E1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Privacy-Compliant Medical Research</a:t>
            </a:r>
          </a:p>
          <a:p>
            <a:pPr algn="just">
              <a:lnSpc>
                <a:spcPts val="4499"/>
              </a:lnSpc>
            </a:pPr>
            <a:r>
              <a:rPr lang="en-US" sz="2999">
                <a:solidFill>
                  <a:srgbClr val="E5E1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Allows collaboration with pharma companies &amp; research institutions without exposing patient data.</a:t>
            </a:r>
          </a:p>
          <a:p>
            <a:pPr algn="just">
              <a:lnSpc>
                <a:spcPts val="4499"/>
              </a:lnSpc>
            </a:pPr>
          </a:p>
        </p:txBody>
      </p:sp>
      <p:grpSp>
        <p:nvGrpSpPr>
          <p:cNvPr name="Group 10" id="10"/>
          <p:cNvGrpSpPr/>
          <p:nvPr/>
        </p:nvGrpSpPr>
        <p:grpSpPr>
          <a:xfrm rot="0">
            <a:off x="17056342" y="239858"/>
            <a:ext cx="1024726" cy="862200"/>
            <a:chOff x="0" y="0"/>
            <a:chExt cx="1366301" cy="11496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66266" cy="1149604"/>
            </a:xfrm>
            <a:custGeom>
              <a:avLst/>
              <a:gdLst/>
              <a:ahLst/>
              <a:cxnLst/>
              <a:rect r="r" b="b" t="t" l="l"/>
              <a:pathLst>
                <a:path h="1149604" w="1366266">
                  <a:moveTo>
                    <a:pt x="0" y="0"/>
                  </a:moveTo>
                  <a:lnTo>
                    <a:pt x="1366266" y="0"/>
                  </a:lnTo>
                  <a:lnTo>
                    <a:pt x="1366266" y="1149604"/>
                  </a:lnTo>
                  <a:lnTo>
                    <a:pt x="0" y="11496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3" b="0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6" cy="10287002"/>
            <a:chOff x="0" y="0"/>
            <a:chExt cx="24384008" cy="1371600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443750" y="339050"/>
            <a:ext cx="12438600" cy="976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91"/>
              </a:lnSpc>
            </a:pPr>
            <a:r>
              <a:rPr lang="en-US" b="true" sz="5599">
                <a:solidFill>
                  <a:srgbClr val="FF0000"/>
                </a:solidFill>
                <a:latin typeface="Poppins Bold"/>
                <a:ea typeface="Poppins Bold"/>
                <a:cs typeface="Poppins Bold"/>
                <a:sym typeface="Poppins Bold"/>
              </a:rPr>
              <a:t>IDEA/APPROACH</a:t>
            </a:r>
            <a:r>
              <a:rPr lang="en-US" b="true" sz="5599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 DETAILS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-2475" y="-11875"/>
            <a:ext cx="18307050" cy="1792650"/>
            <a:chOff x="0" y="0"/>
            <a:chExt cx="24409400" cy="23902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2700" y="12700"/>
              <a:ext cx="24384000" cy="2364740"/>
            </a:xfrm>
            <a:custGeom>
              <a:avLst/>
              <a:gdLst/>
              <a:ahLst/>
              <a:cxnLst/>
              <a:rect r="r" b="b" t="t" l="l"/>
              <a:pathLst>
                <a:path h="236474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364740"/>
                  </a:lnTo>
                  <a:lnTo>
                    <a:pt x="0" y="2364740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409400" cy="2390140"/>
            </a:xfrm>
            <a:custGeom>
              <a:avLst/>
              <a:gdLst/>
              <a:ahLst/>
              <a:cxnLst/>
              <a:rect r="r" b="b" t="t" l="l"/>
              <a:pathLst>
                <a:path h="2390140" w="24409400">
                  <a:moveTo>
                    <a:pt x="12700" y="0"/>
                  </a:moveTo>
                  <a:lnTo>
                    <a:pt x="24396700" y="0"/>
                  </a:lnTo>
                  <a:cubicBezTo>
                    <a:pt x="24403686" y="0"/>
                    <a:pt x="24409400" y="5715"/>
                    <a:pt x="24409400" y="12700"/>
                  </a:cubicBezTo>
                  <a:lnTo>
                    <a:pt x="24409400" y="2377440"/>
                  </a:lnTo>
                  <a:cubicBezTo>
                    <a:pt x="24409400" y="2384425"/>
                    <a:pt x="24403686" y="2390140"/>
                    <a:pt x="24396700" y="2390140"/>
                  </a:cubicBezTo>
                  <a:lnTo>
                    <a:pt x="12700" y="2390140"/>
                  </a:lnTo>
                  <a:cubicBezTo>
                    <a:pt x="5715" y="2390140"/>
                    <a:pt x="0" y="2384425"/>
                    <a:pt x="0" y="237744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377440"/>
                  </a:lnTo>
                  <a:lnTo>
                    <a:pt x="12700" y="2377440"/>
                  </a:lnTo>
                  <a:lnTo>
                    <a:pt x="12700" y="2364740"/>
                  </a:lnTo>
                  <a:lnTo>
                    <a:pt x="24396700" y="2364740"/>
                  </a:lnTo>
                  <a:lnTo>
                    <a:pt x="24396700" y="2377440"/>
                  </a:lnTo>
                  <a:lnTo>
                    <a:pt x="24384000" y="2377440"/>
                  </a:lnTo>
                  <a:lnTo>
                    <a:pt x="24384000" y="12700"/>
                  </a:lnTo>
                  <a:lnTo>
                    <a:pt x="24396700" y="12700"/>
                  </a:lnTo>
                  <a:lnTo>
                    <a:pt x="2439670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623400" y="542900"/>
            <a:ext cx="9858600" cy="772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08"/>
              </a:lnSpc>
            </a:pPr>
            <a:r>
              <a:rPr lang="en-US" b="true" sz="4400">
                <a:solidFill>
                  <a:srgbClr val="FF0000"/>
                </a:solidFill>
                <a:latin typeface="Poppins Bold"/>
                <a:ea typeface="Poppins Bold"/>
                <a:cs typeface="Poppins Bold"/>
                <a:sym typeface="Poppins Bold"/>
              </a:rPr>
              <a:t>IDEA/APPROACH</a:t>
            </a:r>
            <a:r>
              <a:rPr lang="en-US" b="true" sz="4400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 DETAILS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23400" y="2059171"/>
            <a:ext cx="17158348" cy="523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04"/>
              </a:lnSpc>
            </a:pPr>
          </a:p>
        </p:txBody>
      </p:sp>
      <p:grpSp>
        <p:nvGrpSpPr>
          <p:cNvPr name="Group 10" id="10"/>
          <p:cNvGrpSpPr/>
          <p:nvPr/>
        </p:nvGrpSpPr>
        <p:grpSpPr>
          <a:xfrm rot="0">
            <a:off x="17056342" y="239858"/>
            <a:ext cx="1024726" cy="862200"/>
            <a:chOff x="0" y="0"/>
            <a:chExt cx="1366301" cy="11496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66266" cy="1149604"/>
            </a:xfrm>
            <a:custGeom>
              <a:avLst/>
              <a:gdLst/>
              <a:ahLst/>
              <a:cxnLst/>
              <a:rect r="r" b="b" t="t" l="l"/>
              <a:pathLst>
                <a:path h="1149604" w="1366266">
                  <a:moveTo>
                    <a:pt x="0" y="0"/>
                  </a:moveTo>
                  <a:lnTo>
                    <a:pt x="1366266" y="0"/>
                  </a:lnTo>
                  <a:lnTo>
                    <a:pt x="1366266" y="1149604"/>
                  </a:lnTo>
                  <a:lnTo>
                    <a:pt x="0" y="11496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3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775800" y="1466337"/>
            <a:ext cx="7102200" cy="813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21"/>
              </a:lnSpc>
            </a:pPr>
            <a:r>
              <a:rPr lang="en-US" sz="3999">
                <a:solidFill>
                  <a:srgbClr val="E5E1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Methodology and Technologies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43750" y="2535874"/>
            <a:ext cx="9548152" cy="7467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Each hospital trains an AI model on its private patient data without sharing raw records.</a:t>
            </a:r>
          </a:p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Differential Privacy and Homomorphic Encryption ensure that individual patient data cannot be reconstructed.</a:t>
            </a:r>
          </a:p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Federated Aggregation</a:t>
            </a:r>
          </a:p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The central server aggregates encrypted updates to create a global model.</a:t>
            </a:r>
          </a:p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Handling Non-IID Data</a:t>
            </a:r>
          </a:p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FedProx algorithm stabilizes training across hospitals with varying demographics and data distributions.</a:t>
            </a:r>
          </a:p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Each hospital receives both the global model and a personalized version adapted to its local dataset.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991902" y="2429992"/>
            <a:ext cx="8241566" cy="7467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 strike="noStrike" u="none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Frontend: React</a:t>
            </a:r>
          </a:p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 strike="noStrike" u="none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Backend: Python</a:t>
            </a:r>
          </a:p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 strike="noStrike" u="none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Deep Learning Framework: PyTorch</a:t>
            </a:r>
          </a:p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 strike="noStrike" u="none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API</a:t>
            </a:r>
            <a:r>
              <a:rPr lang="en-US" sz="3000" strike="noStrike" u="none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Layer</a:t>
            </a:r>
            <a:r>
              <a:rPr lang="en-US" sz="3000" strike="noStrike" u="none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: </a:t>
            </a:r>
            <a:r>
              <a:rPr lang="en-US" sz="3000" strike="noStrike" u="none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FastAPI</a:t>
            </a:r>
          </a:p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 strike="noStrike" u="none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Federated Learning Framework: TensorFlow Federated</a:t>
            </a:r>
          </a:p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 strike="noStrike" u="none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FL </a:t>
            </a:r>
            <a:r>
              <a:rPr lang="en-US" sz="3000" strike="noStrike" u="none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Algori</a:t>
            </a:r>
            <a:r>
              <a:rPr lang="en-US" sz="3000" strike="noStrike" u="none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thms: FedAvg, FedProx</a:t>
            </a:r>
          </a:p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 strike="noStrike" u="none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Privacy and Security: Differential Privacy, Homomorphic Encryption, SMPC, SSL–TLS</a:t>
            </a:r>
          </a:p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 strike="noStrike" u="none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Deployment: Docker + Kubernetes</a:t>
            </a:r>
          </a:p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 strike="noStrike" u="none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Model Type: CNNs for imaging, Transformers for EHR</a:t>
            </a:r>
          </a:p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 strike="noStrike" u="none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Data Standard: FHIR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6" cy="10287002"/>
            <a:chOff x="0" y="0"/>
            <a:chExt cx="24384008" cy="1371600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443750" y="339050"/>
            <a:ext cx="12438600" cy="976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91"/>
              </a:lnSpc>
            </a:pPr>
            <a:r>
              <a:rPr lang="en-US" b="true" sz="5599">
                <a:solidFill>
                  <a:srgbClr val="FF0000"/>
                </a:solidFill>
                <a:latin typeface="Poppins Bold"/>
                <a:ea typeface="Poppins Bold"/>
                <a:cs typeface="Poppins Bold"/>
                <a:sym typeface="Poppins Bold"/>
              </a:rPr>
              <a:t>IDEA/APPROACH</a:t>
            </a:r>
            <a:r>
              <a:rPr lang="en-US" b="true" sz="5599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 DETAILS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-2475" y="-11875"/>
            <a:ext cx="18307050" cy="1792650"/>
            <a:chOff x="0" y="0"/>
            <a:chExt cx="24409400" cy="23902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2700" y="12700"/>
              <a:ext cx="24384000" cy="2364740"/>
            </a:xfrm>
            <a:custGeom>
              <a:avLst/>
              <a:gdLst/>
              <a:ahLst/>
              <a:cxnLst/>
              <a:rect r="r" b="b" t="t" l="l"/>
              <a:pathLst>
                <a:path h="236474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364740"/>
                  </a:lnTo>
                  <a:lnTo>
                    <a:pt x="0" y="2364740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409400" cy="2390140"/>
            </a:xfrm>
            <a:custGeom>
              <a:avLst/>
              <a:gdLst/>
              <a:ahLst/>
              <a:cxnLst/>
              <a:rect r="r" b="b" t="t" l="l"/>
              <a:pathLst>
                <a:path h="2390140" w="24409400">
                  <a:moveTo>
                    <a:pt x="12700" y="0"/>
                  </a:moveTo>
                  <a:lnTo>
                    <a:pt x="24396700" y="0"/>
                  </a:lnTo>
                  <a:cubicBezTo>
                    <a:pt x="24403686" y="0"/>
                    <a:pt x="24409400" y="5715"/>
                    <a:pt x="24409400" y="12700"/>
                  </a:cubicBezTo>
                  <a:lnTo>
                    <a:pt x="24409400" y="2377440"/>
                  </a:lnTo>
                  <a:cubicBezTo>
                    <a:pt x="24409400" y="2384425"/>
                    <a:pt x="24403686" y="2390140"/>
                    <a:pt x="24396700" y="2390140"/>
                  </a:cubicBezTo>
                  <a:lnTo>
                    <a:pt x="12700" y="2390140"/>
                  </a:lnTo>
                  <a:cubicBezTo>
                    <a:pt x="5715" y="2390140"/>
                    <a:pt x="0" y="2384425"/>
                    <a:pt x="0" y="237744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377440"/>
                  </a:lnTo>
                  <a:lnTo>
                    <a:pt x="12700" y="2377440"/>
                  </a:lnTo>
                  <a:lnTo>
                    <a:pt x="12700" y="2364740"/>
                  </a:lnTo>
                  <a:lnTo>
                    <a:pt x="24396700" y="2364740"/>
                  </a:lnTo>
                  <a:lnTo>
                    <a:pt x="24396700" y="2377440"/>
                  </a:lnTo>
                  <a:lnTo>
                    <a:pt x="24384000" y="2377440"/>
                  </a:lnTo>
                  <a:lnTo>
                    <a:pt x="24384000" y="12700"/>
                  </a:lnTo>
                  <a:lnTo>
                    <a:pt x="24396700" y="12700"/>
                  </a:lnTo>
                  <a:lnTo>
                    <a:pt x="2439670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7056342" y="239858"/>
            <a:ext cx="1024726" cy="862200"/>
            <a:chOff x="0" y="0"/>
            <a:chExt cx="1366301" cy="11496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66266" cy="1149604"/>
            </a:xfrm>
            <a:custGeom>
              <a:avLst/>
              <a:gdLst/>
              <a:ahLst/>
              <a:cxnLst/>
              <a:rect r="r" b="b" t="t" l="l"/>
              <a:pathLst>
                <a:path h="1149604" w="1366266">
                  <a:moveTo>
                    <a:pt x="0" y="0"/>
                  </a:moveTo>
                  <a:lnTo>
                    <a:pt x="1366266" y="0"/>
                  </a:lnTo>
                  <a:lnTo>
                    <a:pt x="1366266" y="1149604"/>
                  </a:lnTo>
                  <a:lnTo>
                    <a:pt x="0" y="11496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3" b="0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3068870" y="1469732"/>
            <a:ext cx="12349992" cy="8725628"/>
          </a:xfrm>
          <a:custGeom>
            <a:avLst/>
            <a:gdLst/>
            <a:ahLst/>
            <a:cxnLst/>
            <a:rect r="r" b="b" t="t" l="l"/>
            <a:pathLst>
              <a:path h="8725628" w="12349992">
                <a:moveTo>
                  <a:pt x="0" y="0"/>
                </a:moveTo>
                <a:lnTo>
                  <a:pt x="12349992" y="0"/>
                </a:lnTo>
                <a:lnTo>
                  <a:pt x="12349992" y="8725627"/>
                </a:lnTo>
                <a:lnTo>
                  <a:pt x="0" y="87256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304" r="-167" b="-1304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623400" y="542900"/>
            <a:ext cx="9858600" cy="772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08"/>
              </a:lnSpc>
            </a:pPr>
            <a:r>
              <a:rPr lang="en-US" b="true" sz="4400">
                <a:solidFill>
                  <a:srgbClr val="FF0000"/>
                </a:solidFill>
                <a:latin typeface="Poppins Bold"/>
                <a:ea typeface="Poppins Bold"/>
                <a:cs typeface="Poppins Bold"/>
                <a:sym typeface="Poppins Bold"/>
              </a:rPr>
              <a:t>IDEA/APPROACH</a:t>
            </a:r>
            <a:r>
              <a:rPr lang="en-US" b="true" sz="4400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 DETAILS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475" y="-11875"/>
            <a:ext cx="18288006" cy="10287002"/>
            <a:chOff x="0" y="0"/>
            <a:chExt cx="24384008" cy="1371600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443750" y="339050"/>
            <a:ext cx="12438600" cy="976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91"/>
              </a:lnSpc>
            </a:pPr>
            <a:r>
              <a:rPr lang="en-US" b="true" sz="5599">
                <a:solidFill>
                  <a:srgbClr val="FF0000"/>
                </a:solidFill>
                <a:latin typeface="Poppins Bold"/>
                <a:ea typeface="Poppins Bold"/>
                <a:cs typeface="Poppins Bold"/>
                <a:sym typeface="Poppins Bold"/>
              </a:rPr>
              <a:t>IDEA/APPROACH</a:t>
            </a:r>
            <a:r>
              <a:rPr lang="en-US" b="true" sz="5599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 DETAILS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-2475" y="-11875"/>
            <a:ext cx="18307050" cy="1792650"/>
            <a:chOff x="0" y="0"/>
            <a:chExt cx="24409400" cy="23902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2700" y="12700"/>
              <a:ext cx="24384000" cy="2364740"/>
            </a:xfrm>
            <a:custGeom>
              <a:avLst/>
              <a:gdLst/>
              <a:ahLst/>
              <a:cxnLst/>
              <a:rect r="r" b="b" t="t" l="l"/>
              <a:pathLst>
                <a:path h="236474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364740"/>
                  </a:lnTo>
                  <a:lnTo>
                    <a:pt x="0" y="2364740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409400" cy="2390140"/>
            </a:xfrm>
            <a:custGeom>
              <a:avLst/>
              <a:gdLst/>
              <a:ahLst/>
              <a:cxnLst/>
              <a:rect r="r" b="b" t="t" l="l"/>
              <a:pathLst>
                <a:path h="2390140" w="24409400">
                  <a:moveTo>
                    <a:pt x="12700" y="0"/>
                  </a:moveTo>
                  <a:lnTo>
                    <a:pt x="24396700" y="0"/>
                  </a:lnTo>
                  <a:cubicBezTo>
                    <a:pt x="24403686" y="0"/>
                    <a:pt x="24409400" y="5715"/>
                    <a:pt x="24409400" y="12700"/>
                  </a:cubicBezTo>
                  <a:lnTo>
                    <a:pt x="24409400" y="2377440"/>
                  </a:lnTo>
                  <a:cubicBezTo>
                    <a:pt x="24409400" y="2384425"/>
                    <a:pt x="24403686" y="2390140"/>
                    <a:pt x="24396700" y="2390140"/>
                  </a:cubicBezTo>
                  <a:lnTo>
                    <a:pt x="12700" y="2390140"/>
                  </a:lnTo>
                  <a:cubicBezTo>
                    <a:pt x="5715" y="2390140"/>
                    <a:pt x="0" y="2384425"/>
                    <a:pt x="0" y="237744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377440"/>
                  </a:lnTo>
                  <a:lnTo>
                    <a:pt x="12700" y="2377440"/>
                  </a:lnTo>
                  <a:lnTo>
                    <a:pt x="12700" y="2364740"/>
                  </a:lnTo>
                  <a:lnTo>
                    <a:pt x="24396700" y="2364740"/>
                  </a:lnTo>
                  <a:lnTo>
                    <a:pt x="24396700" y="2377440"/>
                  </a:lnTo>
                  <a:lnTo>
                    <a:pt x="24384000" y="2377440"/>
                  </a:lnTo>
                  <a:lnTo>
                    <a:pt x="24384000" y="12700"/>
                  </a:lnTo>
                  <a:lnTo>
                    <a:pt x="24396700" y="12700"/>
                  </a:lnTo>
                  <a:lnTo>
                    <a:pt x="2439670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623400" y="542900"/>
            <a:ext cx="9858600" cy="772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08"/>
              </a:lnSpc>
            </a:pPr>
            <a:r>
              <a:rPr lang="en-US" b="true" sz="4400">
                <a:solidFill>
                  <a:srgbClr val="FF0000"/>
                </a:solidFill>
                <a:latin typeface="Poppins Bold"/>
                <a:ea typeface="Poppins Bold"/>
                <a:cs typeface="Poppins Bold"/>
                <a:sym typeface="Poppins Bold"/>
              </a:rPr>
              <a:t>IDEA/APPROACH</a:t>
            </a:r>
            <a:r>
              <a:rPr lang="en-US" b="true" sz="4400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 DETAILS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2741212"/>
            <a:ext cx="16965811" cy="6286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>
                <a:solidFill>
                  <a:srgbClr val="E5E1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Dual-Layer Privacy Protection: Differential Privacy at the h</a:t>
            </a:r>
            <a:r>
              <a:rPr lang="en-US" sz="3000">
                <a:solidFill>
                  <a:srgbClr val="E5E1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ospital level + secure aggregation with Homomorphic Encryption/SMPC ensures patient data is never exposed.</a:t>
            </a:r>
          </a:p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>
                <a:solidFill>
                  <a:srgbClr val="E5E1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Non-IID Data Handling: Uses FedProx to stabilize training across hospitals with different patient demographics (pediatric, geriatric, specialty hospitals).</a:t>
            </a:r>
          </a:p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>
                <a:solidFill>
                  <a:srgbClr val="E5E1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Personalized Federated Models: Each hospital receives a customized local model built on top of a global model for improved accuracy.</a:t>
            </a:r>
          </a:p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>
                <a:solidFill>
                  <a:srgbClr val="E5E1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Attack Resistance: Strong defense against membership inference and gradient inversion attacks through calibrated privacy noise.</a:t>
            </a:r>
          </a:p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>
                <a:solidFill>
                  <a:srgbClr val="E5E1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Scalable Multi-Hospital Collaboration: Works seamlessly across distributed hospital networks using Docker + Kubernetes.</a:t>
            </a:r>
          </a:p>
          <a:p>
            <a:pPr algn="l">
              <a:lnSpc>
                <a:spcPts val="4500"/>
              </a:lnSpc>
            </a:pPr>
          </a:p>
        </p:txBody>
      </p:sp>
      <p:grpSp>
        <p:nvGrpSpPr>
          <p:cNvPr name="Group 10" id="10"/>
          <p:cNvGrpSpPr/>
          <p:nvPr/>
        </p:nvGrpSpPr>
        <p:grpSpPr>
          <a:xfrm rot="0">
            <a:off x="17056342" y="239858"/>
            <a:ext cx="1024726" cy="862200"/>
            <a:chOff x="0" y="0"/>
            <a:chExt cx="1366301" cy="11496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66266" cy="1149604"/>
            </a:xfrm>
            <a:custGeom>
              <a:avLst/>
              <a:gdLst/>
              <a:ahLst/>
              <a:cxnLst/>
              <a:rect r="r" b="b" t="t" l="l"/>
              <a:pathLst>
                <a:path h="1149604" w="1366266">
                  <a:moveTo>
                    <a:pt x="0" y="0"/>
                  </a:moveTo>
                  <a:lnTo>
                    <a:pt x="1366266" y="0"/>
                  </a:lnTo>
                  <a:lnTo>
                    <a:pt x="1366266" y="1149604"/>
                  </a:lnTo>
                  <a:lnTo>
                    <a:pt x="0" y="11496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3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846888" y="1911744"/>
            <a:ext cx="1636514" cy="708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Novelty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6" cy="10287002"/>
            <a:chOff x="0" y="0"/>
            <a:chExt cx="24384008" cy="1371600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443750" y="339050"/>
            <a:ext cx="12438600" cy="976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91"/>
              </a:lnSpc>
            </a:pPr>
            <a:r>
              <a:rPr lang="en-US" b="true" sz="5599">
                <a:solidFill>
                  <a:srgbClr val="FF0000"/>
                </a:solidFill>
                <a:latin typeface="Poppins Bold"/>
                <a:ea typeface="Poppins Bold"/>
                <a:cs typeface="Poppins Bold"/>
                <a:sym typeface="Poppins Bold"/>
              </a:rPr>
              <a:t>IDEA/APPROACH</a:t>
            </a:r>
            <a:r>
              <a:rPr lang="en-US" b="true" sz="5599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 DETAILS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-2475" y="-11875"/>
            <a:ext cx="18307050" cy="1792650"/>
            <a:chOff x="0" y="0"/>
            <a:chExt cx="24409400" cy="23902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2700" y="12700"/>
              <a:ext cx="24384000" cy="2364740"/>
            </a:xfrm>
            <a:custGeom>
              <a:avLst/>
              <a:gdLst/>
              <a:ahLst/>
              <a:cxnLst/>
              <a:rect r="r" b="b" t="t" l="l"/>
              <a:pathLst>
                <a:path h="236474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364740"/>
                  </a:lnTo>
                  <a:lnTo>
                    <a:pt x="0" y="2364740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409400" cy="2390140"/>
            </a:xfrm>
            <a:custGeom>
              <a:avLst/>
              <a:gdLst/>
              <a:ahLst/>
              <a:cxnLst/>
              <a:rect r="r" b="b" t="t" l="l"/>
              <a:pathLst>
                <a:path h="2390140" w="24409400">
                  <a:moveTo>
                    <a:pt x="12700" y="0"/>
                  </a:moveTo>
                  <a:lnTo>
                    <a:pt x="24396700" y="0"/>
                  </a:lnTo>
                  <a:cubicBezTo>
                    <a:pt x="24403686" y="0"/>
                    <a:pt x="24409400" y="5715"/>
                    <a:pt x="24409400" y="12700"/>
                  </a:cubicBezTo>
                  <a:lnTo>
                    <a:pt x="24409400" y="2377440"/>
                  </a:lnTo>
                  <a:cubicBezTo>
                    <a:pt x="24409400" y="2384425"/>
                    <a:pt x="24403686" y="2390140"/>
                    <a:pt x="24396700" y="2390140"/>
                  </a:cubicBezTo>
                  <a:lnTo>
                    <a:pt x="12700" y="2390140"/>
                  </a:lnTo>
                  <a:cubicBezTo>
                    <a:pt x="5715" y="2390140"/>
                    <a:pt x="0" y="2384425"/>
                    <a:pt x="0" y="237744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377440"/>
                  </a:lnTo>
                  <a:lnTo>
                    <a:pt x="12700" y="2377440"/>
                  </a:lnTo>
                  <a:lnTo>
                    <a:pt x="12700" y="2364740"/>
                  </a:lnTo>
                  <a:lnTo>
                    <a:pt x="24396700" y="2364740"/>
                  </a:lnTo>
                  <a:lnTo>
                    <a:pt x="24396700" y="2377440"/>
                  </a:lnTo>
                  <a:lnTo>
                    <a:pt x="24384000" y="2377440"/>
                  </a:lnTo>
                  <a:lnTo>
                    <a:pt x="24384000" y="12700"/>
                  </a:lnTo>
                  <a:lnTo>
                    <a:pt x="24396700" y="12700"/>
                  </a:lnTo>
                  <a:lnTo>
                    <a:pt x="2439670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623400" y="542900"/>
            <a:ext cx="9858600" cy="772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08"/>
              </a:lnSpc>
            </a:pPr>
            <a:r>
              <a:rPr lang="en-US" b="true" sz="4400">
                <a:solidFill>
                  <a:srgbClr val="FF0000"/>
                </a:solidFill>
                <a:latin typeface="Poppins Bold"/>
                <a:ea typeface="Poppins Bold"/>
                <a:cs typeface="Poppins Bold"/>
                <a:sym typeface="Poppins Bold"/>
              </a:rPr>
              <a:t>TEAM </a:t>
            </a:r>
            <a:r>
              <a:rPr lang="en-US" b="true" sz="4400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DETAILS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92050" y="2748289"/>
            <a:ext cx="4367332" cy="616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6"/>
              </a:lnSpc>
            </a:pPr>
            <a:r>
              <a:rPr lang="en-US" sz="3003">
                <a:solidFill>
                  <a:srgbClr val="E5E1DA"/>
                </a:solidFill>
                <a:latin typeface="Poppins"/>
                <a:ea typeface="Poppins"/>
                <a:cs typeface="Poppins"/>
                <a:sym typeface="Poppins"/>
              </a:rPr>
              <a:t>Student ID: 4JK23CS014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92050" y="3317000"/>
            <a:ext cx="15377892" cy="2560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88"/>
              </a:lnSpc>
            </a:pPr>
            <a:r>
              <a:rPr lang="en-US" sz="3029">
                <a:solidFill>
                  <a:srgbClr val="E5E1DA"/>
                </a:solidFill>
                <a:latin typeface="Poppins"/>
                <a:ea typeface="Poppins"/>
                <a:cs typeface="Poppins"/>
                <a:sym typeface="Poppins"/>
              </a:rPr>
              <a:t>Institution Name: AJ Institute of Engineering &amp; Technology Mangalore, Karnataka</a:t>
            </a:r>
          </a:p>
          <a:p>
            <a:pPr algn="l">
              <a:lnSpc>
                <a:spcPts val="5088"/>
              </a:lnSpc>
            </a:pPr>
          </a:p>
          <a:p>
            <a:pPr algn="l">
              <a:lnSpc>
                <a:spcPts val="5088"/>
              </a:lnSpc>
            </a:pPr>
            <a:r>
              <a:rPr lang="en-US" sz="3029">
                <a:solidFill>
                  <a:srgbClr val="E5E1D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  <a:p>
            <a:pPr algn="l">
              <a:lnSpc>
                <a:spcPts val="5088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692050" y="3904761"/>
            <a:ext cx="5860018" cy="616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6"/>
              </a:lnSpc>
            </a:pPr>
            <a:r>
              <a:rPr lang="en-US" sz="3003">
                <a:solidFill>
                  <a:srgbClr val="E5E1DA"/>
                </a:solidFill>
                <a:latin typeface="Poppins"/>
                <a:ea typeface="Poppins"/>
                <a:cs typeface="Poppins"/>
                <a:sym typeface="Poppins"/>
              </a:rPr>
              <a:t>Phone Number: +91 9019934133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92050" y="2171551"/>
            <a:ext cx="5247799" cy="616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6"/>
              </a:lnSpc>
            </a:pPr>
            <a:r>
              <a:rPr lang="en-US" sz="3003">
                <a:solidFill>
                  <a:srgbClr val="E5E1DA"/>
                </a:solidFill>
                <a:latin typeface="Poppins"/>
                <a:ea typeface="Poppins"/>
                <a:cs typeface="Poppins"/>
                <a:sym typeface="Poppins"/>
              </a:rPr>
              <a:t>Team Leader Name: Arjun R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92050" y="6662807"/>
            <a:ext cx="6793945" cy="616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6"/>
              </a:lnSpc>
            </a:pPr>
            <a:r>
              <a:rPr lang="en-US" sz="3003">
                <a:solidFill>
                  <a:srgbClr val="E5E1DA"/>
                </a:solidFill>
                <a:latin typeface="Poppins"/>
                <a:ea typeface="Poppins"/>
                <a:cs typeface="Poppins"/>
                <a:sym typeface="Poppins"/>
              </a:rPr>
              <a:t>Member 1 Name :  Suyash Devadiga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92050" y="4481499"/>
            <a:ext cx="6636306" cy="616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6"/>
              </a:lnSpc>
            </a:pPr>
            <a:r>
              <a:rPr lang="en-US" sz="3003">
                <a:solidFill>
                  <a:srgbClr val="E5E1DA"/>
                </a:solidFill>
                <a:latin typeface="Poppins"/>
                <a:ea typeface="Poppins"/>
                <a:cs typeface="Poppins"/>
                <a:sym typeface="Poppins"/>
              </a:rPr>
              <a:t>Email ID: arjunr252005@gmail.com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92050" y="7713697"/>
            <a:ext cx="5315664" cy="616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6"/>
              </a:lnSpc>
            </a:pPr>
            <a:r>
              <a:rPr lang="en-US" sz="3003">
                <a:solidFill>
                  <a:srgbClr val="E5E1DA"/>
                </a:solidFill>
                <a:latin typeface="Poppins"/>
                <a:ea typeface="Poppins"/>
                <a:cs typeface="Poppins"/>
                <a:sym typeface="Poppins"/>
              </a:rPr>
              <a:t>Member 2 Name : Neekshith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92050" y="8764589"/>
            <a:ext cx="4506754" cy="616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6"/>
              </a:lnSpc>
            </a:pPr>
            <a:r>
              <a:rPr lang="en-US" sz="3003">
                <a:solidFill>
                  <a:srgbClr val="E5E1DA"/>
                </a:solidFill>
                <a:latin typeface="Poppins"/>
                <a:ea typeface="Poppins"/>
                <a:cs typeface="Poppins"/>
                <a:sym typeface="Poppins"/>
              </a:rPr>
              <a:t>Member 3 Name :  Krithi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7056342" y="239858"/>
            <a:ext cx="1024726" cy="862200"/>
            <a:chOff x="0" y="0"/>
            <a:chExt cx="1366301" cy="11496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366266" cy="1149604"/>
            </a:xfrm>
            <a:custGeom>
              <a:avLst/>
              <a:gdLst/>
              <a:ahLst/>
              <a:cxnLst/>
              <a:rect r="r" b="b" t="t" l="l"/>
              <a:pathLst>
                <a:path h="1149604" w="1366266">
                  <a:moveTo>
                    <a:pt x="0" y="0"/>
                  </a:moveTo>
                  <a:lnTo>
                    <a:pt x="1366266" y="0"/>
                  </a:lnTo>
                  <a:lnTo>
                    <a:pt x="1366266" y="1149604"/>
                  </a:lnTo>
                  <a:lnTo>
                    <a:pt x="0" y="11496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3" b="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DAG5CwFJII8</dc:identifier>
  <dcterms:modified xsi:type="dcterms:W3CDTF">2011-08-01T06:04:30Z</dcterms:modified>
  <cp:revision>1</cp:revision>
  <dc:title>MedCrypt-CR(S)3</dc:title>
</cp:coreProperties>
</file>